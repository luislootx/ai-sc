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42062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43891200" cy="274320"/>
          </a:xfrm>
          <a:prstGeom prst="rect">
            <a:avLst/>
          </a:prstGeom>
          <a:solidFill>
            <a:srgbClr val="3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365760"/>
            <a:ext cx="361188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Calibri"/>
              </a:rPr>
              <a:t>An Agentic AI Science Community for</a:t>
            </a:r>
          </a:p>
          <a:p>
            <a:pPr algn="ctr"/>
            <a:r>
              <a:rPr sz="6600" b="1">
                <a:solidFill>
                  <a:srgbClr val="FFFFFF"/>
                </a:solidFill>
                <a:latin typeface="Calibri"/>
              </a:rPr>
              <a:t>Automated Neural Operator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23160"/>
            <a:ext cx="36118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Luis Loo    |    Advisor: Ulisses Braga-Neto    |    Department of Electrical &amp; Computer Engineering, Texas A&amp;M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3611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Hot Topics Workshop on Agentic Scientific Computing and Scientific Machine Learning   |   ICERM, Brown University   |   May 9-10,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82880"/>
            <a:ext cx="393192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[ TAMU LOGO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0" y="182880"/>
            <a:ext cx="3611880" cy="3611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7920" y="274320"/>
            <a:ext cx="3429000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233600" y="342900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github.com/luislootx/AI-SC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13752576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375257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3752576" cy="1752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222222"/>
                </a:solidFill>
                <a:latin typeface="Calibri"/>
              </a:rPr>
              <a:t>A swarm of virtual labs, exchanging CITATIONS like a research community, discovers HYBRID neural operator architectures with no human prior - and converges on a DIFFERENT architecture for each PDE family.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7787639"/>
            <a:ext cx="13752576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7787639"/>
            <a:ext cx="1375257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793479"/>
            <a:ext cx="13752576" cy="3352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  - Neural operators (FNO, DeepONet, GNOT, MWT, ...) ship with fixed inductive biases. Picking the right family is still done by hand.</a:t>
            </a:r>
          </a:p>
          <a:p>
            <a:pPr algn="l"/>
          </a:p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  - QUESTION: can a swarm of virtual labs discover the right architecture per PDE, with no human prior?</a:t>
            </a:r>
          </a:p>
          <a:p>
            <a:pPr algn="l"/>
          </a:p>
          <a:p>
            <a:pPr algn="l"/>
            <a:r>
              <a:rPr sz="2400" b="0">
                <a:solidFill>
                  <a:srgbClr val="222222"/>
                </a:solidFill>
                <a:latin typeface="Calibri"/>
              </a:rPr>
              <a:t>  - FRAMEWORK: Braga-Neto's AI Scientific Community (arXiv:2603.21344, 2026). 16 labs, citation-based influence, PSO coordinator over architecture genomes.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2420598"/>
            <a:ext cx="13752576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2420598"/>
            <a:ext cx="1375257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Methods - Five Role Agents per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426438"/>
            <a:ext cx="13752576" cy="5059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PLANNER:   proposes the architecture genome.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WORKER:    inner GA over hyperparameters.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EVALUATOR: multi-objective fitness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    f = w_a acc + w_g gen + w_e eff + w_n nov + w_p peer.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REVIEWER:  votes for top-2 peer labs.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COORDINATOR (shared): PSO + culling.</a:t>
            </a:r>
          </a:p>
          <a:p>
            <a:pPr algn="l"/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TRUST SCORE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  tau_i = (1-a) tau_i + a c_i / max c.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Drives GA budget, PSO weight, lab survival.</a:t>
            </a:r>
          </a:p>
          <a:p>
            <a:pPr algn="l"/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BLOCK LIBRARY:  Fourier (FNO)  -  Branch-Trunk (DeepONet)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 Wavelet (MWT)  -  Attention (GNOT)  -  Residual Conv.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8760438"/>
            <a:ext cx="13752576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8760438"/>
            <a:ext cx="1375257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Discussion &amp; Caveats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9766278"/>
            <a:ext cx="13752576" cy="3103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Regime-aware hybrid: 4-family recombination, no human prior.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For NS-2D the hybrid matches FNO h64 m12 with ~3x fewer params.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Block usage shifts measurably iter 1 -&gt; 20 in every benchmark - this is not random search.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CAVEAT: absolute rel L2 is NOT comparable across PDEs (signal energies, noise floors, spectral structure differ).</a:t>
            </a:r>
          </a:p>
          <a:p>
            <a:pPr algn="l"/>
            <a:r>
              <a:rPr sz="2200" b="0">
                <a:solidFill>
                  <a:srgbClr val="222222"/>
                </a:solidFill>
                <a:latin typeface="Calibri"/>
              </a:rPr>
              <a:t>  - We do NOT claim to beat DeepONet. Darcy-2D test pending.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144478"/>
            <a:ext cx="13752576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3144478"/>
            <a:ext cx="13752576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Next Steps &amp; 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4150318"/>
            <a:ext cx="13752576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NEXT:  Darcy-2D (DeepONet regime); LLM-backed Planner / Reviewer (Athena, Toscano et al., 2025); graph operator + neural Galerkin blocks.</a:t>
            </a:r>
          </a:p>
          <a:p>
            <a:pPr algn="l"/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- Braga-Neto. AI Scientific Community. arXiv:2603.21344 (2026).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- Lu et al. The AI Scientist. Nature 651, 914-919 (2026).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- Toscano, Chen, Karniadakis. Athena. arXiv:2512.03476 (2025).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- Li et al. FNO. ICLR 2021.   Lu et al. DeepONet. NMI 3 (2021).</a:t>
            </a:r>
          </a:p>
          <a:p>
            <a:pPr algn="l"/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ACKNOWLEDGMENTS  -  Prof. Ulisses Braga-Neto; ICERM organisers; TAMU ECEN travel grant; ICERM lodging support.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75536" y="4754880"/>
            <a:ext cx="28858464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75536" y="4754880"/>
            <a:ext cx="288584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Framework Overview</a:t>
            </a:r>
          </a:p>
        </p:txBody>
      </p:sp>
      <p:pic>
        <p:nvPicPr>
          <p:cNvPr id="28" name="Picture 27" descr="architectur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4118" y="5806440"/>
            <a:ext cx="18021300" cy="100584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4575536" y="16184880"/>
            <a:ext cx="28858464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575536" y="16184880"/>
            <a:ext cx="288584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Results  -  All Four Experiments</a:t>
            </a:r>
          </a:p>
        </p:txBody>
      </p:sp>
      <p:pic>
        <p:nvPicPr>
          <p:cNvPr id="31" name="Picture 30" descr="master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2435" y="17236440"/>
            <a:ext cx="17524666" cy="109728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4575536" y="28529280"/>
            <a:ext cx="14292072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575536" y="28529280"/>
            <a:ext cx="1429207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Discovered Architectures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75536" y="29535120"/>
            <a:ext cx="14292072" cy="3743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PIECEWISE REG. 1D       R + R + R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LIN. ADVECTION 1D       A + F + F + T + A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BURGERS 1D              F + R + F + T + A + F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NS-2D (winner)          F + A + W + R + T + T + F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NS-2D (best rel L2)     F + F + A + W + R + T + F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                      rel L2 = 2.6e-4   (1.5M params)</a:t>
            </a:r>
          </a:p>
          <a:p>
            <a:pPr algn="l"/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Different PDEs =&gt; different architectures.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Legend: F=Fourier  A=Attention  W=Wavelet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        R=ResConv  T=Branch-Trunk.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141928" y="28529280"/>
            <a:ext cx="14292072" cy="1005840"/>
          </a:xfrm>
          <a:prstGeom prst="rect">
            <a:avLst/>
          </a:prstGeom>
          <a:solidFill>
            <a:srgbClr val="5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41928" y="28529280"/>
            <a:ext cx="1429207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Honest Comparison  -  1D Baselines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141928" y="29535120"/>
            <a:ext cx="1429207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Same data, same training budget per architecture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(40 epochs, 256 train, res 128).</a:t>
            </a:r>
          </a:p>
          <a:p>
            <a:pPr algn="l"/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PDE          | Hybrid | FNO   | DeepO | Wave  | Trans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Piecewise    | 0.043  | 0.062 | 0.224 | 0.043*| 0.078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Lin. Advec.  | 0.020* | 0.033 | 0.866 | 0.546 | 0.862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Burgers      | 0.074* | 0.117 | 0.791 | 0.430 | 0.784</a:t>
            </a:r>
          </a:p>
          <a:p>
            <a:pPr algn="l"/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* = best per row.  Hybrid WINS Advection + Burgers,</a:t>
            </a:r>
          </a:p>
          <a:p>
            <a:pPr algn="l"/>
            <a:r>
              <a:rPr sz="2000" b="0">
                <a:solidFill>
                  <a:srgbClr val="222222"/>
                </a:solidFill>
                <a:latin typeface="Calibri"/>
              </a:rPr>
              <a:t>TIES the regime-optimal pure family on regression.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